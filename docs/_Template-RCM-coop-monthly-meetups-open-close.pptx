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Catamaran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Livvic"/>
      <p:regular r:id="rId22"/>
      <p:bold r:id="rId23"/>
      <p:italic r:id="rId24"/>
      <p:boldItalic r:id="rId25"/>
    </p:embeddedFont>
    <p:embeddedFont>
      <p:font typeface="Catamaran Ligh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ivvic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ivvic-italic.fntdata"/><Relationship Id="rId23" Type="http://schemas.openxmlformats.org/officeDocument/2006/relationships/font" Target="fonts/Livvic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atamaranLight-regular.fntdata"/><Relationship Id="rId25" Type="http://schemas.openxmlformats.org/officeDocument/2006/relationships/font" Target="fonts/Livvic-boldItalic.fntdata"/><Relationship Id="rId27" Type="http://schemas.openxmlformats.org/officeDocument/2006/relationships/font" Target="fonts/Catamaran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atamaran-bold.fntdata"/><Relationship Id="rId12" Type="http://schemas.openxmlformats.org/officeDocument/2006/relationships/font" Target="fonts/Catamaran-regular.fntdata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4a7c758b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b4a7c758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Hello and welcome to RCM Coop Monthly Meetups!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We have a code of conduct, please have a look at from the link in the chat. 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Our Code of Conduct sets out how we engage with each other, across the co-op and any spaces we facilitate. 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We’re committed to a welcoming,  harassment-free  environment for everyone, and we take a restorative approach when things go wrong, focusing on repairing harm and rebuilding trust rather than punishment. 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Concerns can be raised directly with our Directors, and all reports are handled with care and confidentiality.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4a7c758b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b4a7c758b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bff059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3bff059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Now we’d love to get to know who’s in the room!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We’re going to put you into small breakout rooms for a quick Treasure Hunt. 🔎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Once you’re in your groups, you’ll have two minutes to find three things:</a:t>
            </a:r>
            <a:b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something yellow — anything yellow — a book, and something natural.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Then the fun begins! Take a moment to introduce yourselves — who you are and what you do — and then show your group your treasures.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be mindful of everyone’s participation preferences: W for those who prefer to write their interactions, and S for those who prefer to speak.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Have fun with your Treasure Hunt, and we’ll see you back here in 10 minutes!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516d80d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b516d80d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What most interests you about the RCM Coop membership model?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Are the membership types feasible/workable? Is anything confusing about the model?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"/>
              <a:buChar char="-"/>
            </a:pPr>
            <a:r>
              <a:rPr lang="en-GB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What benefits or incentives would be most valuable to you for being a community or core member?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We want them to say that there is a place for them in RCM coop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Note active: on the mailing list/slack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Active participation: Community Member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Want to do more: Core member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4a7c758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fb4a7c758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a88e2642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a88e264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-17333" y="4142154"/>
            <a:ext cx="9157048" cy="10013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ng shot of a warehouse&#10;&#10;AI-generated content may be incorrect." id="13" name="Google Shape;13;p2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-17333" y="0"/>
            <a:ext cx="916133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 amt="70000"/>
          </a:blip>
          <a:srcRect b="6820" l="0" r="0" t="0"/>
          <a:stretch/>
        </p:blipFill>
        <p:spPr>
          <a:xfrm>
            <a:off x="4285" y="315885"/>
            <a:ext cx="9135429" cy="48276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 rot="5400000">
            <a:off x="2892600" y="-269250"/>
            <a:ext cx="3358800" cy="5026500"/>
          </a:xfrm>
          <a:prstGeom prst="rect">
            <a:avLst/>
          </a:prstGeom>
          <a:solidFill>
            <a:srgbClr val="061C05">
              <a:alpha val="8980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with a black background&#10;&#10;AI-generated content may be incorrect." id="16" name="Google Shape;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8867" y="3091850"/>
            <a:ext cx="1429183" cy="6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title"/>
          </p:nvPr>
        </p:nvSpPr>
        <p:spPr>
          <a:xfrm>
            <a:off x="2058850" y="976025"/>
            <a:ext cx="50265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/>
          <p:nvPr>
            <p:ph idx="2" type="pic"/>
          </p:nvPr>
        </p:nvSpPr>
        <p:spPr>
          <a:xfrm>
            <a:off x="5432800" y="2969900"/>
            <a:ext cx="1411200" cy="8199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"/>
          <p:cNvSpPr/>
          <p:nvPr/>
        </p:nvSpPr>
        <p:spPr>
          <a:xfrm flipH="1">
            <a:off x="9" y="4873500"/>
            <a:ext cx="9144000" cy="270000"/>
          </a:xfrm>
          <a:prstGeom prst="rect">
            <a:avLst/>
          </a:prstGeom>
          <a:solidFill>
            <a:srgbClr val="061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Monthly Meetup September 2026  |   10.5281/zenodo.22747725  |  CC-BY-4.0</a:t>
            </a:r>
            <a:endParaRPr b="0" i="0" sz="11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 + desig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9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 1">
  <p:cSld name="Title + design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94059" y="45989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, title (Dark)" showMasterSp="0">
  <p:cSld name="Blank, title (Dark)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31800" y="1072701"/>
            <a:ext cx="8280300" cy="3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 rot="5400000">
            <a:off x="4159450" y="160350"/>
            <a:ext cx="823800" cy="9142800"/>
          </a:xfrm>
          <a:prstGeom prst="rect">
            <a:avLst/>
          </a:prstGeom>
          <a:solidFill>
            <a:srgbClr val="0C1D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6" title="logo-sticker-tagline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400" y="4416273"/>
            <a:ext cx="278283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 flipH="1">
            <a:off x="3493458" y="4563437"/>
            <a:ext cx="5491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Monthly Meetup September 2026  |   10.5281/zenodo.22747725  |  CC-BY-4.0</a:t>
            </a:r>
            <a:endParaRPr b="0" i="0" sz="11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72">
          <p15:clr>
            <a:srgbClr val="FBAE40"/>
          </p15:clr>
        </p15:guide>
        <p15:guide id="2" orient="horz" pos="2981">
          <p15:clr>
            <a:srgbClr val="FBAE40"/>
          </p15:clr>
        </p15:guide>
        <p15:guide id="3" orient="horz" pos="259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Title + design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8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ctrTitle"/>
          </p:nvPr>
        </p:nvSpPr>
        <p:spPr>
          <a:xfrm>
            <a:off x="930650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Title + design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Title + design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4">
  <p:cSld name="Title + design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5">
  <p:cSld name="Title + design_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6">
  <p:cSld name="Title + design_6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ctrTitle"/>
          </p:nvPr>
        </p:nvSpPr>
        <p:spPr>
          <a:xfrm>
            <a:off x="1749675" y="567650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tamaran"/>
              <a:buNone/>
              <a:defRPr sz="24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 2">
  <p:cSld name="CUSTOM_7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-17325" y="4142154"/>
            <a:ext cx="9157039" cy="10013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ng shot of a warehouse&#10;&#10;AI-generated content may be incorrect." id="48" name="Google Shape;48;p14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4"/>
          <p:cNvPicPr preferRelativeResize="0"/>
          <p:nvPr/>
        </p:nvPicPr>
        <p:blipFill rotWithShape="1">
          <a:blip r:embed="rId3">
            <a:alphaModFix amt="70000"/>
          </a:blip>
          <a:srcRect b="6820" l="0" r="0" t="0"/>
          <a:stretch/>
        </p:blipFill>
        <p:spPr>
          <a:xfrm>
            <a:off x="-17325" y="315885"/>
            <a:ext cx="9157039" cy="482761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4"/>
          <p:cNvSpPr/>
          <p:nvPr/>
        </p:nvSpPr>
        <p:spPr>
          <a:xfrm rot="5400000">
            <a:off x="2892600" y="-269250"/>
            <a:ext cx="3358800" cy="5026500"/>
          </a:xfrm>
          <a:prstGeom prst="rect">
            <a:avLst/>
          </a:prstGeom>
          <a:solidFill>
            <a:srgbClr val="061C05">
              <a:alpha val="8980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4"/>
          <p:cNvSpPr/>
          <p:nvPr/>
        </p:nvSpPr>
        <p:spPr>
          <a:xfrm flipH="1">
            <a:off x="9" y="4873500"/>
            <a:ext cx="9144000" cy="270000"/>
          </a:xfrm>
          <a:prstGeom prst="rect">
            <a:avLst/>
          </a:prstGeom>
          <a:solidFill>
            <a:srgbClr val="061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accent2"/>
                </a:solidFill>
                <a:latin typeface="Catamaran"/>
                <a:ea typeface="Catamaran"/>
                <a:cs typeface="Catamaran"/>
                <a:sym typeface="Catamaran"/>
              </a:rPr>
              <a:t>RCM Cooperative  | Source &amp; License:           </a:t>
            </a:r>
            <a:endParaRPr b="0" i="0" sz="1100" u="none" cap="none" strike="noStrike">
              <a:solidFill>
                <a:schemeClr val="accen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2" name="Google Shape;52;p14"/>
          <p:cNvSpPr txBox="1"/>
          <p:nvPr>
            <p:ph type="title"/>
          </p:nvPr>
        </p:nvSpPr>
        <p:spPr>
          <a:xfrm>
            <a:off x="2058850" y="976025"/>
            <a:ext cx="50265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5385550" y="4873500"/>
            <a:ext cx="2363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 1">
  <p:cSld name="CUSTOM_7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2275800" y="1680600"/>
            <a:ext cx="45924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1152475"/>
            <a:ext cx="85206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  <p:sp>
        <p:nvSpPr>
          <p:cNvPr id="8" name="Google Shape;8;p1"/>
          <p:cNvSpPr/>
          <p:nvPr/>
        </p:nvSpPr>
        <p:spPr>
          <a:xfrm rot="5400000">
            <a:off x="4159450" y="160350"/>
            <a:ext cx="823800" cy="9142800"/>
          </a:xfrm>
          <a:prstGeom prst="rect">
            <a:avLst/>
          </a:prstGeom>
          <a:solidFill>
            <a:srgbClr val="0C1D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 flipH="1">
            <a:off x="3493477" y="4563437"/>
            <a:ext cx="5491781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Monthly Meetup September 2026  |   10.5281/zenodo.22747725  |  CC-BY-4.0</a:t>
            </a:r>
            <a:endParaRPr b="0" i="0" sz="11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Google Shape;10;p1" title="logo-sticker-tagline-white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1400" y="4416273"/>
            <a:ext cx="2782830" cy="572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Relationship Id="rId5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hyperlink" Target="https://us06web.zoom.us/meeting/register/6zaCLqbqSVyLntm7_2a_DA" TargetMode="External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rcmcooperative.com/" TargetMode="External"/><Relationship Id="rId4" Type="http://schemas.openxmlformats.org/officeDocument/2006/relationships/hyperlink" Target="https://bit.ly/42z6snn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2081500" y="1621150"/>
            <a:ext cx="4959900" cy="12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700"/>
              <a:t>RCM Cooperative</a:t>
            </a:r>
            <a:endParaRPr sz="3700"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700"/>
              <a:t>Monthly Meetups</a:t>
            </a:r>
            <a:endParaRPr sz="3700"/>
          </a:p>
        </p:txBody>
      </p:sp>
      <p:pic>
        <p:nvPicPr>
          <p:cNvPr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4463" y="759150"/>
            <a:ext cx="2310425" cy="3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1155" y="593240"/>
            <a:ext cx="692175" cy="7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7125" y="627500"/>
            <a:ext cx="614275" cy="6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 title="discourse logo.jpg"/>
          <p:cNvPicPr preferRelativeResize="0"/>
          <p:nvPr/>
        </p:nvPicPr>
        <p:blipFill rotWithShape="1">
          <a:blip r:embed="rId6">
            <a:alphaModFix/>
          </a:blip>
          <a:srcRect b="0" l="0" r="0" t="42383"/>
          <a:stretch/>
        </p:blipFill>
        <p:spPr>
          <a:xfrm>
            <a:off x="5344425" y="687250"/>
            <a:ext cx="1013175" cy="5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182200" y="221075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Meeting Practice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 flipH="1">
            <a:off x="305225" y="769626"/>
            <a:ext cx="8805900" cy="3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Code of Conduct</a:t>
            </a:r>
            <a:endParaRPr b="0" i="0" sz="16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Presentation and discussion will be recorded (discussion not published) - recording will be shared. </a:t>
            </a:r>
            <a:endParaRPr b="0" i="0" sz="16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All links will be shared in zoom (slides, doc, form)</a:t>
            </a:r>
            <a:endParaRPr b="0" i="0" sz="16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Add “w-” or “s-” in front of your zoom name to indicate your interaction preference</a:t>
            </a:r>
            <a:endParaRPr b="0" i="0" sz="16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We’d love to see you, so please turn on your camera if you can - take a break if needed.</a:t>
            </a:r>
            <a:endParaRPr b="0" i="0" sz="16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A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ll questions are welcome through chat and by raising virtual hand (Zoom ✋)</a:t>
            </a:r>
            <a:endParaRPr b="0" i="0" sz="16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You can take notes for future reference - we have shared notes. Please credit contributions!</a:t>
            </a:r>
            <a:endParaRPr b="0" i="0" sz="16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tamaran Medium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Connect with each other others on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RCM Cooperative slack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75" name="Google Shape;75;p18"/>
          <p:cNvPicPr preferRelativeResize="0"/>
          <p:nvPr/>
        </p:nvPicPr>
        <p:blipFill rotWithShape="1">
          <a:blip r:embed="rId3">
            <a:alphaModFix/>
          </a:blip>
          <a:srcRect b="16304" l="0" r="0" t="0"/>
          <a:stretch/>
        </p:blipFill>
        <p:spPr>
          <a:xfrm>
            <a:off x="-35700" y="0"/>
            <a:ext cx="9210675" cy="430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311700" y="124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/>
              <a:t>Learn about who’s here</a:t>
            </a:r>
            <a:endParaRPr sz="3000"/>
          </a:p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431850" y="905475"/>
            <a:ext cx="82803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Catamaran"/>
              <a:buAutoNum type="arabicPeriod"/>
            </a:pPr>
            <a:r>
              <a:rPr b="1" lang="en-GB" sz="2000">
                <a:latin typeface="Catamaran"/>
                <a:ea typeface="Catamaran"/>
                <a:cs typeface="Catamaran"/>
                <a:sym typeface="Catamaran"/>
              </a:rPr>
              <a:t>Desk treasure hunt (2 mins)</a:t>
            </a:r>
            <a:endParaRPr b="1" sz="2000"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Catamaran"/>
              <a:buAutoNum type="arabicPeriod"/>
            </a:pPr>
            <a:r>
              <a:rPr b="1" lang="en-GB" sz="2000">
                <a:latin typeface="Catamaran"/>
                <a:ea typeface="Catamaran"/>
                <a:cs typeface="Catamaran"/>
                <a:sym typeface="Catamaran"/>
              </a:rPr>
              <a:t>Break out room (10 mins</a:t>
            </a:r>
            <a:r>
              <a:rPr b="1" lang="en-GB" sz="2000">
                <a:latin typeface="Catamaran"/>
                <a:ea typeface="Catamaran"/>
                <a:cs typeface="Catamaran"/>
                <a:sym typeface="Catamaran"/>
              </a:rPr>
              <a:t>)</a:t>
            </a:r>
            <a:endParaRPr b="1" sz="2000">
              <a:latin typeface="Catamaran"/>
              <a:ea typeface="Catamaran"/>
              <a:cs typeface="Catamaran"/>
              <a:sym typeface="Catamar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Introduce yourself: Who you are and what you do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Show and discuss your treasures!</a:t>
            </a:r>
            <a:endParaRPr sz="2000"/>
          </a:p>
        </p:txBody>
      </p:sp>
      <p:sp>
        <p:nvSpPr>
          <p:cNvPr id="82" name="Google Shape;82;p19"/>
          <p:cNvSpPr txBox="1"/>
          <p:nvPr/>
        </p:nvSpPr>
        <p:spPr>
          <a:xfrm>
            <a:off x="537825" y="3699250"/>
            <a:ext cx="2347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63025" spcFirstLastPara="1" rIns="63025" wrap="square" tIns="6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Something </a:t>
            </a:r>
            <a:r>
              <a:rPr lang="en-GB" sz="20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[colour]</a:t>
            </a:r>
            <a:endParaRPr b="0" i="0" sz="20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3570500" y="3727550"/>
            <a:ext cx="17979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63025" spcFirstLastPara="1" rIns="63025" wrap="square" tIns="6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A [</a:t>
            </a:r>
            <a:r>
              <a:rPr lang="en-GB" sz="20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document]</a:t>
            </a:r>
            <a:endParaRPr b="0" i="0" sz="20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5860825" y="3699250"/>
            <a:ext cx="2499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63025" spcFirstLastPara="1" rIns="63025" wrap="square" tIns="6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Something </a:t>
            </a:r>
            <a:r>
              <a:rPr lang="en-GB" sz="20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[feature]</a:t>
            </a:r>
            <a:endParaRPr b="0" i="0" sz="2000" u="none" cap="none" strike="noStrike">
              <a:solidFill>
                <a:schemeClr val="dk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pic>
        <p:nvPicPr>
          <p:cNvPr id="85" name="Google Shape;85;p19" title="david-vig-qwHHOC2z5Xs-unsplash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480" y="2554471"/>
            <a:ext cx="1717591" cy="114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9" title="ed-robertson-eeSdJfLfx1A-unsplash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0507" y="2554473"/>
            <a:ext cx="1717591" cy="1144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9" title="jason-leung-hsS6jTr-pns-unsplash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75" y="2539650"/>
            <a:ext cx="1677164" cy="1117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ctrTitle"/>
          </p:nvPr>
        </p:nvSpPr>
        <p:spPr>
          <a:xfrm>
            <a:off x="221650" y="109375"/>
            <a:ext cx="81093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3000"/>
              <a:t>Thank you!</a:t>
            </a:r>
            <a:endParaRPr sz="3000"/>
          </a:p>
        </p:txBody>
      </p:sp>
      <p:sp>
        <p:nvSpPr>
          <p:cNvPr id="93" name="Google Shape;93;p20"/>
          <p:cNvSpPr txBox="1"/>
          <p:nvPr/>
        </p:nvSpPr>
        <p:spPr>
          <a:xfrm>
            <a:off x="296925" y="2160775"/>
            <a:ext cx="608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>
                <a:latin typeface="Catamaran"/>
                <a:ea typeface="Catamaran"/>
                <a:cs typeface="Catamaran"/>
                <a:sym typeface="Catamaran"/>
              </a:rPr>
              <a:t>[specific downstream impact of work in this session]</a:t>
            </a:r>
            <a:endParaRPr b="0" i="0" sz="22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94" name="Google Shape;94;p20" title="emoji-rcm-coop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275" y="231150"/>
            <a:ext cx="521525" cy="52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6709450" y="968125"/>
            <a:ext cx="1877400" cy="566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accent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Feedback </a:t>
            </a:r>
            <a:r>
              <a:rPr lang="en-GB" sz="2000">
                <a:solidFill>
                  <a:schemeClr val="accent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poll</a:t>
            </a:r>
            <a:r>
              <a:rPr b="0" i="0" lang="en-GB" sz="2000" u="none" cap="none" strike="noStrike">
                <a:solidFill>
                  <a:schemeClr val="accent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!</a:t>
            </a:r>
            <a:endParaRPr b="0" i="0" sz="2000" u="none" cap="none" strike="noStrike">
              <a:solidFill>
                <a:schemeClr val="accent5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6709450" y="1867950"/>
            <a:ext cx="1877400" cy="1242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accent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Suggest a monthly meetup topic</a:t>
            </a:r>
            <a:r>
              <a:rPr b="0" i="0" lang="en-GB" sz="2000" u="none" cap="none" strike="noStrike">
                <a:solidFill>
                  <a:schemeClr val="accent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!</a:t>
            </a:r>
            <a:endParaRPr b="0" i="0" sz="2000" u="none" cap="none" strike="noStrike">
              <a:solidFill>
                <a:schemeClr val="accent5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ctrTitle"/>
          </p:nvPr>
        </p:nvSpPr>
        <p:spPr>
          <a:xfrm>
            <a:off x="121625" y="61725"/>
            <a:ext cx="5438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3000"/>
              <a:t>Next Monthly Meetup!</a:t>
            </a:r>
            <a:endParaRPr sz="3000"/>
          </a:p>
        </p:txBody>
      </p:sp>
      <p:pic>
        <p:nvPicPr>
          <p:cNvPr id="102" name="Google Shape;102;p21" title="Final template RCM coop meetup advert (LinkedIn Post) (1).png"/>
          <p:cNvPicPr preferRelativeResize="0"/>
          <p:nvPr/>
        </p:nvPicPr>
        <p:blipFill rotWithShape="1">
          <a:blip r:embed="rId3">
            <a:alphaModFix/>
          </a:blip>
          <a:srcRect b="24123" l="1488" r="49883" t="18766"/>
          <a:stretch/>
        </p:blipFill>
        <p:spPr>
          <a:xfrm>
            <a:off x="239300" y="714125"/>
            <a:ext cx="2542599" cy="309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1" title="Final template RCM coop meetup advert (LinkedIn Post) (1).png"/>
          <p:cNvPicPr preferRelativeResize="0"/>
          <p:nvPr/>
        </p:nvPicPr>
        <p:blipFill rotWithShape="1">
          <a:blip r:embed="rId3">
            <a:alphaModFix/>
          </a:blip>
          <a:srcRect b="65193" l="50993" r="942" t="18659"/>
          <a:stretch/>
        </p:blipFill>
        <p:spPr>
          <a:xfrm>
            <a:off x="2911600" y="746563"/>
            <a:ext cx="3088899" cy="103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 title="Final template RCM coop meetup advert (LinkedIn Post) (1).png"/>
          <p:cNvPicPr preferRelativeResize="0"/>
          <p:nvPr/>
        </p:nvPicPr>
        <p:blipFill rotWithShape="1">
          <a:blip r:embed="rId3">
            <a:alphaModFix/>
          </a:blip>
          <a:srcRect b="35348" l="51878" r="2261" t="37344"/>
          <a:stretch/>
        </p:blipFill>
        <p:spPr>
          <a:xfrm>
            <a:off x="2911600" y="1970000"/>
            <a:ext cx="3088899" cy="18394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6130200" y="756275"/>
            <a:ext cx="2913300" cy="305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Register here</a:t>
            </a:r>
            <a:endParaRPr b="1" i="0" sz="210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https://us06web.zoom.us/meeting/register/6zaCLqbqSVyLntm7_2a_DA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21" title="adobe-express-qr-code-rcm-meetup-oct202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4475" y="2087575"/>
            <a:ext cx="1574125" cy="157412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2058750" y="610136"/>
            <a:ext cx="50265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Get in touch</a:t>
            </a:r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2058750" y="1170849"/>
            <a:ext cx="5026500" cy="1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●"/>
            </a:pPr>
            <a:r>
              <a:rPr b="1" i="0" lang="en-GB" sz="1500" u="none" cap="none" strike="noStrike">
                <a:solidFill>
                  <a:schemeClr val="accent3"/>
                </a:solidFill>
                <a:latin typeface="Catamaran"/>
                <a:ea typeface="Catamaran"/>
                <a:cs typeface="Catamaran"/>
                <a:sym typeface="Catamaran"/>
              </a:rPr>
              <a:t>Website:</a:t>
            </a:r>
            <a:r>
              <a:rPr b="0" i="0" lang="en-GB" sz="1500" u="none" cap="none" strike="noStrike">
                <a:solidFill>
                  <a:schemeClr val="accent3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 </a:t>
            </a:r>
            <a:r>
              <a:rPr b="0" i="0" lang="en-GB" sz="1500" u="sng" cap="none" strike="noStrike">
                <a:solidFill>
                  <a:schemeClr val="accent3"/>
                </a:solidFill>
                <a:latin typeface="Catamaran Light"/>
                <a:ea typeface="Catamaran Light"/>
                <a:cs typeface="Catamaran Light"/>
                <a:sym typeface="Catamaran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https://www.rcmcooperative.com/</a:t>
            </a:r>
            <a:endParaRPr b="0" i="0" sz="1500" u="none" cap="none" strike="noStrike">
              <a:solidFill>
                <a:schemeClr val="accent3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"/>
              <a:buChar char="●"/>
            </a:pPr>
            <a:r>
              <a:rPr b="1" i="0" lang="en-GB" sz="1500" u="none" cap="none" strike="noStrike">
                <a:solidFill>
                  <a:schemeClr val="accent3"/>
                </a:solidFill>
                <a:latin typeface="Catamaran"/>
                <a:ea typeface="Catamaran"/>
                <a:cs typeface="Catamaran"/>
                <a:sym typeface="Catamaran"/>
              </a:rPr>
              <a:t>Join Slack:  </a:t>
            </a:r>
            <a:r>
              <a:rPr b="0" i="0" lang="en-GB" sz="1300" u="sng" cap="none" strike="noStrike">
                <a:solidFill>
                  <a:schemeClr val="accent3"/>
                </a:solidFill>
                <a:latin typeface="Catamaran Light"/>
                <a:ea typeface="Catamaran Light"/>
                <a:cs typeface="Catamaran Light"/>
                <a:sym typeface="Catamaran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https://bit.ly/42z6snn</a:t>
            </a:r>
            <a:r>
              <a:rPr b="0" i="0" lang="en-GB" sz="1300" u="none" cap="none" strike="noStrike">
                <a:solidFill>
                  <a:schemeClr val="accent3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 </a:t>
            </a:r>
            <a:endParaRPr b="0" i="0" sz="1300" u="none" cap="none" strike="noStrike">
              <a:solidFill>
                <a:schemeClr val="accent3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tamaran"/>
              <a:buChar char="●"/>
            </a:pPr>
            <a:r>
              <a:rPr b="1" i="0" lang="en-GB" sz="1500" u="none" cap="none" strike="noStrike">
                <a:solidFill>
                  <a:schemeClr val="accent3"/>
                </a:solidFill>
                <a:latin typeface="Catamaran"/>
                <a:ea typeface="Catamaran"/>
                <a:cs typeface="Catamaran"/>
                <a:sym typeface="Catamaran"/>
              </a:rPr>
              <a:t>Emails:</a:t>
            </a:r>
            <a:endParaRPr b="1" i="0" sz="1500" u="none" cap="none" strike="noStrike">
              <a:solidFill>
                <a:schemeClr val="accent3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tamaran Light"/>
              <a:buChar char="○"/>
            </a:pPr>
            <a:r>
              <a:rPr b="0" i="0" lang="en-GB" sz="1500" u="none" cap="none" strike="noStrike">
                <a:solidFill>
                  <a:schemeClr val="accent3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cassandra.gouldvanpraag@rcmcooperative.com</a:t>
            </a:r>
            <a:endParaRPr b="0" i="0" sz="1500" u="none" cap="none" strike="noStrike">
              <a:solidFill>
                <a:schemeClr val="accent3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500"/>
              <a:buFont typeface="Catamaran Light"/>
              <a:buChar char="○"/>
            </a:pPr>
            <a:r>
              <a:rPr b="0" i="0" lang="en-GB" sz="1500" u="none" cap="none" strike="noStrike">
                <a:solidFill>
                  <a:schemeClr val="accent3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emma.karoune@rcmcooperative.com</a:t>
            </a:r>
            <a:endParaRPr b="0" i="0" sz="1500" u="none" cap="none" strike="noStrike">
              <a:solidFill>
                <a:schemeClr val="accent3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pic>
        <p:nvPicPr>
          <p:cNvPr id="113" name="Google Shape;113;p22" title="qr-slack-joi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2100" y="0"/>
            <a:ext cx="1031900" cy="10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ck Logo PNG Vector (PDF) Free Download" id="114" name="Google Shape;1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8201" y="0"/>
            <a:ext cx="556601" cy="5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594059" y="45056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1663" y="3481375"/>
            <a:ext cx="2310425" cy="3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6750" y="3041575"/>
            <a:ext cx="692175" cy="7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49975" y="2759475"/>
            <a:ext cx="664500" cy="6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 title="discourse logo.jpg"/>
          <p:cNvPicPr preferRelativeResize="0"/>
          <p:nvPr/>
        </p:nvPicPr>
        <p:blipFill rotWithShape="1">
          <a:blip r:embed="rId10">
            <a:alphaModFix/>
          </a:blip>
          <a:srcRect b="0" l="0" r="0" t="42383"/>
          <a:stretch/>
        </p:blipFill>
        <p:spPr>
          <a:xfrm>
            <a:off x="5108913" y="2799850"/>
            <a:ext cx="1013175" cy="58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/>
          <p:nvPr/>
        </p:nvSpPr>
        <p:spPr>
          <a:xfrm flipH="1">
            <a:off x="9" y="4873475"/>
            <a:ext cx="9144000" cy="270000"/>
          </a:xfrm>
          <a:prstGeom prst="rect">
            <a:avLst/>
          </a:prstGeom>
          <a:solidFill>
            <a:srgbClr val="061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D89C8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2"/>
          <p:cNvSpPr/>
          <p:nvPr/>
        </p:nvSpPr>
        <p:spPr>
          <a:xfrm flipH="1">
            <a:off x="3493458" y="4865075"/>
            <a:ext cx="5491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D89C8D"/>
                </a:solidFill>
                <a:latin typeface="Montserrat"/>
                <a:ea typeface="Montserrat"/>
                <a:cs typeface="Montserrat"/>
                <a:sym typeface="Montserrat"/>
              </a:rPr>
              <a:t>Monthly Meetup September 2026  |   10.5281/zenodo.22747725 |  CC-BY-4.0</a:t>
            </a:r>
            <a:endParaRPr b="0" i="0" sz="1100" u="none" cap="none" strike="noStrike">
              <a:solidFill>
                <a:srgbClr val="D89C8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gineering Project Proposal by Slidesgo">
  <a:themeElements>
    <a:clrScheme name="Custom 1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051D06"/>
      </a:accent1>
      <a:accent2>
        <a:srgbClr val="D89C8D"/>
      </a:accent2>
      <a:accent3>
        <a:srgbClr val="F3F2ED"/>
      </a:accent3>
      <a:accent4>
        <a:srgbClr val="E4F0D0"/>
      </a:accent4>
      <a:accent5>
        <a:srgbClr val="051D06"/>
      </a:accent5>
      <a:accent6>
        <a:srgbClr val="384C4B"/>
      </a:accent6>
      <a:hlink>
        <a:srgbClr val="434343"/>
      </a:hlink>
      <a:folHlink>
        <a:srgbClr val="051D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